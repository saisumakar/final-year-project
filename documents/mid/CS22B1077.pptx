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0" r:id="rId1"/>
    <p:sldMasterId id="2147483671" r:id="rId2"/>
  </p:sldMasterIdLst>
  <p:notesMasterIdLst>
    <p:notesMasterId r:id="rId16"/>
  </p:notesMasterIdLst>
  <p:sldIdLst>
    <p:sldId id="256" r:id="rId3"/>
    <p:sldId id="257" r:id="rId4"/>
    <p:sldId id="258" r:id="rId5"/>
    <p:sldId id="260" r:id="rId6"/>
    <p:sldId id="261" r:id="rId7"/>
    <p:sldId id="262" r:id="rId8"/>
    <p:sldId id="263" r:id="rId9"/>
    <p:sldId id="270" r:id="rId10"/>
    <p:sldId id="264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5" name="Google Shape;12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33" name="Google Shape;13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4" name="Google Shape;134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IN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41" name="Google Shape;14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2" name="Google Shape;142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IN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57" name="Google Shape;157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8" name="Google Shape;158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IN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65" name="Google Shape;165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6" name="Google Shape;166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IN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73" name="Google Shape;173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4" name="Google Shape;174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IN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81" name="Google Shape;181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2" name="Google Shape;182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IN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89" name="Google Shape;189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0" name="Google Shape;190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IN"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205" name="Google Shape;205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6" name="Google Shape;206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IN"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213" name="Google Shape;213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4" name="Google Shape;214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IN"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221" name="Google Shape;221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2" name="Google Shape;222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IN"/>
              <a:t>12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229" name="Google Shape;229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0" name="Google Shape;230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IN"/>
              <a:t>13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>
  <p:cSld name="Title Slide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"/>
          <p:cNvSpPr/>
          <p:nvPr/>
        </p:nvSpPr>
        <p:spPr>
          <a:xfrm>
            <a:off x="0" y="0"/>
            <a:ext cx="12192000" cy="5150700"/>
          </a:xfrm>
          <a:prstGeom prst="rect">
            <a:avLst/>
          </a:prstGeom>
          <a:solidFill>
            <a:srgbClr val="214B8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2"/>
          <p:cNvSpPr txBox="1">
            <a:spLocks noGrp="1"/>
          </p:cNvSpPr>
          <p:nvPr>
            <p:ph type="ctrTitle"/>
          </p:nvPr>
        </p:nvSpPr>
        <p:spPr>
          <a:xfrm>
            <a:off x="1524000" y="485754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Bookman Old Style"/>
              <a:buNone/>
              <a:defRPr sz="6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subTitle" idx="1"/>
          </p:nvPr>
        </p:nvSpPr>
        <p:spPr>
          <a:xfrm>
            <a:off x="1524000" y="3148313"/>
            <a:ext cx="9144000" cy="14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DEAEA"/>
              </a:buClr>
              <a:buSzPts val="2800"/>
              <a:buNone/>
              <a:defRPr sz="2800">
                <a:solidFill>
                  <a:srgbClr val="EDEAEA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pic>
        <p:nvPicPr>
          <p:cNvPr id="20" name="Google Shape;20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" y="5402388"/>
            <a:ext cx="6667017" cy="123053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" name="Google Shape;21;p2"/>
          <p:cNvCxnSpPr/>
          <p:nvPr/>
        </p:nvCxnSpPr>
        <p:spPr>
          <a:xfrm>
            <a:off x="6736460" y="5335929"/>
            <a:ext cx="0" cy="1354200"/>
          </a:xfrm>
          <a:prstGeom prst="straightConnector1">
            <a:avLst/>
          </a:prstGeom>
          <a:noFill/>
          <a:ln w="9525" cap="flat" cmpd="sng">
            <a:solidFill>
              <a:srgbClr val="214B8C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2" name="Google Shape;22;p2"/>
          <p:cNvSpPr txBox="1">
            <a:spLocks noGrp="1"/>
          </p:cNvSpPr>
          <p:nvPr>
            <p:ph type="body" idx="2"/>
          </p:nvPr>
        </p:nvSpPr>
        <p:spPr>
          <a:xfrm>
            <a:off x="7048981" y="5335588"/>
            <a:ext cx="4862100" cy="135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9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4B8C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body" idx="1"/>
          </p:nvPr>
        </p:nvSpPr>
        <p:spPr>
          <a:xfrm>
            <a:off x="838200" y="1511107"/>
            <a:ext cx="10515600" cy="436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sldNum" idx="12"/>
          </p:nvPr>
        </p:nvSpPr>
        <p:spPr>
          <a:xfrm>
            <a:off x="10370916" y="6311899"/>
            <a:ext cx="15231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831850" y="1593991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4B8C"/>
              </a:buClr>
              <a:buSzPts val="6000"/>
              <a:buFont typeface="Bookman Old Style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831850" y="4473716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10393047" y="6311899"/>
            <a:ext cx="1500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9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4B8C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838200" y="1634250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2"/>
          </p:nvPr>
        </p:nvSpPr>
        <p:spPr>
          <a:xfrm>
            <a:off x="6172200" y="1634250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ldNum" idx="12"/>
          </p:nvPr>
        </p:nvSpPr>
        <p:spPr>
          <a:xfrm>
            <a:off x="10393047" y="6311899"/>
            <a:ext cx="1500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>
            <a:spLocks noGrp="1"/>
          </p:cNvSpPr>
          <p:nvPr>
            <p:ph type="title"/>
          </p:nvPr>
        </p:nvSpPr>
        <p:spPr>
          <a:xfrm>
            <a:off x="839788" y="365124"/>
            <a:ext cx="10515600" cy="9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4B8C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body" idx="1"/>
          </p:nvPr>
        </p:nvSpPr>
        <p:spPr>
          <a:xfrm>
            <a:off x="839788" y="1555861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body" idx="2"/>
          </p:nvPr>
        </p:nvSpPr>
        <p:spPr>
          <a:xfrm>
            <a:off x="839788" y="2379773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3"/>
          </p:nvPr>
        </p:nvSpPr>
        <p:spPr>
          <a:xfrm>
            <a:off x="6172200" y="1555861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4"/>
          </p:nvPr>
        </p:nvSpPr>
        <p:spPr>
          <a:xfrm>
            <a:off x="6172200" y="2379773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sldNum" idx="12"/>
          </p:nvPr>
        </p:nvSpPr>
        <p:spPr>
          <a:xfrm>
            <a:off x="10393047" y="6311899"/>
            <a:ext cx="1500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7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9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4B8C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sldNum" idx="12"/>
          </p:nvPr>
        </p:nvSpPr>
        <p:spPr>
          <a:xfrm>
            <a:off x="10393047" y="6311899"/>
            <a:ext cx="1500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"/>
          <p:cNvSpPr txBox="1">
            <a:spLocks noGrp="1"/>
          </p:cNvSpPr>
          <p:nvPr>
            <p:ph type="sldNum" idx="12"/>
          </p:nvPr>
        </p:nvSpPr>
        <p:spPr>
          <a:xfrm>
            <a:off x="10393047" y="6311899"/>
            <a:ext cx="1500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4B8C"/>
              </a:buClr>
              <a:buSzPts val="3200"/>
              <a:buFont typeface="Bookman Old Style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sldNum" idx="12"/>
          </p:nvPr>
        </p:nvSpPr>
        <p:spPr>
          <a:xfrm>
            <a:off x="10393047" y="6311899"/>
            <a:ext cx="1500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4B8C"/>
              </a:buClr>
              <a:buSzPts val="3200"/>
              <a:buFont typeface="Bookman Old Style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56" name="Google Shape;56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7" name="Google Shape;57;p10"/>
          <p:cNvSpPr txBox="1">
            <a:spLocks noGrp="1"/>
          </p:cNvSpPr>
          <p:nvPr>
            <p:ph type="sldNum" idx="12"/>
          </p:nvPr>
        </p:nvSpPr>
        <p:spPr>
          <a:xfrm>
            <a:off x="10393047" y="6311899"/>
            <a:ext cx="1500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1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9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4B8C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1"/>
          <p:cNvSpPr txBox="1">
            <a:spLocks noGrp="1"/>
          </p:cNvSpPr>
          <p:nvPr>
            <p:ph type="body" idx="1"/>
          </p:nvPr>
        </p:nvSpPr>
        <p:spPr>
          <a:xfrm rot="5400000">
            <a:off x="3911550" y="-1562243"/>
            <a:ext cx="43689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1"/>
          <p:cNvSpPr txBox="1">
            <a:spLocks noGrp="1"/>
          </p:cNvSpPr>
          <p:nvPr>
            <p:ph type="sldNum" idx="12"/>
          </p:nvPr>
        </p:nvSpPr>
        <p:spPr>
          <a:xfrm>
            <a:off x="10393047" y="6311899"/>
            <a:ext cx="1500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2"/>
          <p:cNvSpPr txBox="1">
            <a:spLocks noGrp="1"/>
          </p:cNvSpPr>
          <p:nvPr>
            <p:ph type="title"/>
          </p:nvPr>
        </p:nvSpPr>
        <p:spPr>
          <a:xfrm rot="5400000">
            <a:off x="7133400" y="1783000"/>
            <a:ext cx="5811900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4B8C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2"/>
          <p:cNvSpPr txBox="1">
            <a:spLocks noGrp="1"/>
          </p:cNvSpPr>
          <p:nvPr>
            <p:ph type="body" idx="1"/>
          </p:nvPr>
        </p:nvSpPr>
        <p:spPr>
          <a:xfrm rot="5400000">
            <a:off x="1799400" y="-769700"/>
            <a:ext cx="5811900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5" name="Google Shape;65;p12"/>
          <p:cNvSpPr txBox="1">
            <a:spLocks noGrp="1"/>
          </p:cNvSpPr>
          <p:nvPr>
            <p:ph type="sldNum" idx="12"/>
          </p:nvPr>
        </p:nvSpPr>
        <p:spPr>
          <a:xfrm>
            <a:off x="10393047" y="6311899"/>
            <a:ext cx="1500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4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9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4B8C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4"/>
          <p:cNvSpPr txBox="1">
            <a:spLocks noGrp="1"/>
          </p:cNvSpPr>
          <p:nvPr>
            <p:ph type="body" idx="1"/>
          </p:nvPr>
        </p:nvSpPr>
        <p:spPr>
          <a:xfrm>
            <a:off x="838200" y="1511107"/>
            <a:ext cx="10515600" cy="4368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6" name="Google Shape;76;p14"/>
          <p:cNvSpPr txBox="1">
            <a:spLocks noGrp="1"/>
          </p:cNvSpPr>
          <p:nvPr>
            <p:ph type="sldNum" idx="12"/>
          </p:nvPr>
        </p:nvSpPr>
        <p:spPr>
          <a:xfrm>
            <a:off x="10370916" y="6311899"/>
            <a:ext cx="15230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942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4B8C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10393047" y="6311899"/>
            <a:ext cx="15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>
  <p:cSld name="Title Slide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/>
          <p:nvPr/>
        </p:nvSpPr>
        <p:spPr>
          <a:xfrm>
            <a:off x="0" y="0"/>
            <a:ext cx="12192000" cy="5150734"/>
          </a:xfrm>
          <a:prstGeom prst="rect">
            <a:avLst/>
          </a:prstGeom>
          <a:solidFill>
            <a:srgbClr val="214B8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16"/>
          <p:cNvSpPr txBox="1">
            <a:spLocks noGrp="1"/>
          </p:cNvSpPr>
          <p:nvPr>
            <p:ph type="ctrTitle"/>
          </p:nvPr>
        </p:nvSpPr>
        <p:spPr>
          <a:xfrm>
            <a:off x="1524000" y="485754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Bookman Old Style"/>
              <a:buNone/>
              <a:defRPr sz="6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subTitle" idx="1"/>
          </p:nvPr>
        </p:nvSpPr>
        <p:spPr>
          <a:xfrm>
            <a:off x="1524000" y="3148313"/>
            <a:ext cx="9144000" cy="1472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DEAEA"/>
              </a:buClr>
              <a:buSzPts val="2800"/>
              <a:buNone/>
              <a:defRPr sz="2800">
                <a:solidFill>
                  <a:srgbClr val="EDEAEA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pic>
        <p:nvPicPr>
          <p:cNvPr id="84" name="Google Shape;84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" y="5402388"/>
            <a:ext cx="6667016" cy="123053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5" name="Google Shape;85;p16"/>
          <p:cNvCxnSpPr/>
          <p:nvPr/>
        </p:nvCxnSpPr>
        <p:spPr>
          <a:xfrm>
            <a:off x="6736460" y="5335929"/>
            <a:ext cx="0" cy="1354238"/>
          </a:xfrm>
          <a:prstGeom prst="straightConnector1">
            <a:avLst/>
          </a:prstGeom>
          <a:noFill/>
          <a:ln w="9525" cap="flat" cmpd="sng">
            <a:solidFill>
              <a:srgbClr val="214B8C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6" name="Google Shape;86;p16"/>
          <p:cNvSpPr txBox="1">
            <a:spLocks noGrp="1"/>
          </p:cNvSpPr>
          <p:nvPr>
            <p:ph type="body" idx="2"/>
          </p:nvPr>
        </p:nvSpPr>
        <p:spPr>
          <a:xfrm>
            <a:off x="7048981" y="5335588"/>
            <a:ext cx="4862031" cy="1354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>
            <a:spLocks noGrp="1"/>
          </p:cNvSpPr>
          <p:nvPr>
            <p:ph type="title"/>
          </p:nvPr>
        </p:nvSpPr>
        <p:spPr>
          <a:xfrm>
            <a:off x="831850" y="1593991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4B8C"/>
              </a:buClr>
              <a:buSzPts val="6000"/>
              <a:buFont typeface="Bookman Old Style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7"/>
          <p:cNvSpPr txBox="1">
            <a:spLocks noGrp="1"/>
          </p:cNvSpPr>
          <p:nvPr>
            <p:ph type="body" idx="1"/>
          </p:nvPr>
        </p:nvSpPr>
        <p:spPr>
          <a:xfrm>
            <a:off x="831850" y="4473716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sldNum" idx="12"/>
          </p:nvPr>
        </p:nvSpPr>
        <p:spPr>
          <a:xfrm>
            <a:off x="10393047" y="6311899"/>
            <a:ext cx="15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942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4B8C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8"/>
          <p:cNvSpPr txBox="1">
            <a:spLocks noGrp="1"/>
          </p:cNvSpPr>
          <p:nvPr>
            <p:ph type="body" idx="1"/>
          </p:nvPr>
        </p:nvSpPr>
        <p:spPr>
          <a:xfrm>
            <a:off x="838200" y="1634250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4" name="Google Shape;94;p18"/>
          <p:cNvSpPr txBox="1">
            <a:spLocks noGrp="1"/>
          </p:cNvSpPr>
          <p:nvPr>
            <p:ph type="body" idx="2"/>
          </p:nvPr>
        </p:nvSpPr>
        <p:spPr>
          <a:xfrm>
            <a:off x="6172200" y="1634250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5" name="Google Shape;95;p18"/>
          <p:cNvSpPr txBox="1">
            <a:spLocks noGrp="1"/>
          </p:cNvSpPr>
          <p:nvPr>
            <p:ph type="sldNum" idx="12"/>
          </p:nvPr>
        </p:nvSpPr>
        <p:spPr>
          <a:xfrm>
            <a:off x="10393047" y="6311899"/>
            <a:ext cx="15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>
            <a:spLocks noGrp="1"/>
          </p:cNvSpPr>
          <p:nvPr>
            <p:ph type="title"/>
          </p:nvPr>
        </p:nvSpPr>
        <p:spPr>
          <a:xfrm>
            <a:off x="839788" y="365124"/>
            <a:ext cx="10515600" cy="9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4B8C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9"/>
          <p:cNvSpPr txBox="1">
            <a:spLocks noGrp="1"/>
          </p:cNvSpPr>
          <p:nvPr>
            <p:ph type="body" idx="1"/>
          </p:nvPr>
        </p:nvSpPr>
        <p:spPr>
          <a:xfrm>
            <a:off x="839788" y="1555861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99" name="Google Shape;99;p19"/>
          <p:cNvSpPr txBox="1">
            <a:spLocks noGrp="1"/>
          </p:cNvSpPr>
          <p:nvPr>
            <p:ph type="body" idx="2"/>
          </p:nvPr>
        </p:nvSpPr>
        <p:spPr>
          <a:xfrm>
            <a:off x="839788" y="2379773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0" name="Google Shape;100;p19"/>
          <p:cNvSpPr txBox="1">
            <a:spLocks noGrp="1"/>
          </p:cNvSpPr>
          <p:nvPr>
            <p:ph type="body" idx="3"/>
          </p:nvPr>
        </p:nvSpPr>
        <p:spPr>
          <a:xfrm>
            <a:off x="6172200" y="1555861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01" name="Google Shape;101;p19"/>
          <p:cNvSpPr txBox="1">
            <a:spLocks noGrp="1"/>
          </p:cNvSpPr>
          <p:nvPr>
            <p:ph type="body" idx="4"/>
          </p:nvPr>
        </p:nvSpPr>
        <p:spPr>
          <a:xfrm>
            <a:off x="6172200" y="2379773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2" name="Google Shape;102;p19"/>
          <p:cNvSpPr txBox="1">
            <a:spLocks noGrp="1"/>
          </p:cNvSpPr>
          <p:nvPr>
            <p:ph type="sldNum" idx="12"/>
          </p:nvPr>
        </p:nvSpPr>
        <p:spPr>
          <a:xfrm>
            <a:off x="10393047" y="6311899"/>
            <a:ext cx="15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>
            <a:spLocks noGrp="1"/>
          </p:cNvSpPr>
          <p:nvPr>
            <p:ph type="sldNum" idx="12"/>
          </p:nvPr>
        </p:nvSpPr>
        <p:spPr>
          <a:xfrm>
            <a:off x="10393047" y="6311899"/>
            <a:ext cx="15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4B8C"/>
              </a:buClr>
              <a:buSzPts val="3200"/>
              <a:buFont typeface="Bookman Old Style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21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08" name="Google Shape;108;p21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09" name="Google Shape;109;p21"/>
          <p:cNvSpPr txBox="1">
            <a:spLocks noGrp="1"/>
          </p:cNvSpPr>
          <p:nvPr>
            <p:ph type="sldNum" idx="12"/>
          </p:nvPr>
        </p:nvSpPr>
        <p:spPr>
          <a:xfrm>
            <a:off x="10393047" y="6311899"/>
            <a:ext cx="15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4B8C"/>
              </a:buClr>
              <a:buSzPts val="3200"/>
              <a:buFont typeface="Bookman Old Style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22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13" name="Google Shape;113;p22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14" name="Google Shape;114;p22"/>
          <p:cNvSpPr txBox="1">
            <a:spLocks noGrp="1"/>
          </p:cNvSpPr>
          <p:nvPr>
            <p:ph type="sldNum" idx="12"/>
          </p:nvPr>
        </p:nvSpPr>
        <p:spPr>
          <a:xfrm>
            <a:off x="10393047" y="6311899"/>
            <a:ext cx="15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3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942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4B8C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23"/>
          <p:cNvSpPr txBox="1">
            <a:spLocks noGrp="1"/>
          </p:cNvSpPr>
          <p:nvPr>
            <p:ph type="body" idx="1"/>
          </p:nvPr>
        </p:nvSpPr>
        <p:spPr>
          <a:xfrm rot="5400000">
            <a:off x="3911584" y="-1562277"/>
            <a:ext cx="4368832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8" name="Google Shape;118;p23"/>
          <p:cNvSpPr txBox="1">
            <a:spLocks noGrp="1"/>
          </p:cNvSpPr>
          <p:nvPr>
            <p:ph type="sldNum" idx="12"/>
          </p:nvPr>
        </p:nvSpPr>
        <p:spPr>
          <a:xfrm>
            <a:off x="10393047" y="6311899"/>
            <a:ext cx="15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>
            <a:spLocks noGrp="1"/>
          </p:cNvSpPr>
          <p:nvPr>
            <p:ph type="title"/>
          </p:nvPr>
        </p:nvSpPr>
        <p:spPr>
          <a:xfrm rot="5400000">
            <a:off x="7133431" y="1782969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4B8C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24"/>
          <p:cNvSpPr txBox="1">
            <a:spLocks noGrp="1"/>
          </p:cNvSpPr>
          <p:nvPr>
            <p:ph type="body" idx="1"/>
          </p:nvPr>
        </p:nvSpPr>
        <p:spPr>
          <a:xfrm rot="5400000">
            <a:off x="1799431" y="-769731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2" name="Google Shape;122;p24"/>
          <p:cNvSpPr txBox="1">
            <a:spLocks noGrp="1"/>
          </p:cNvSpPr>
          <p:nvPr>
            <p:ph type="sldNum" idx="12"/>
          </p:nvPr>
        </p:nvSpPr>
        <p:spPr>
          <a:xfrm>
            <a:off x="10393047" y="6311899"/>
            <a:ext cx="15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hyperlink" Target="http://www.iiitdm.ac.in/" TargetMode="Externa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hyperlink" Target="http://www.iiitdm.ac.in/" TargetMode="Externa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/>
          <p:nvPr/>
        </p:nvSpPr>
        <p:spPr>
          <a:xfrm>
            <a:off x="0" y="6108732"/>
            <a:ext cx="12192000" cy="749400"/>
          </a:xfrm>
          <a:prstGeom prst="rect">
            <a:avLst/>
          </a:prstGeom>
          <a:solidFill>
            <a:srgbClr val="214B8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1;p1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9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4B8C"/>
              </a:buClr>
              <a:buSzPts val="3600"/>
              <a:buFont typeface="Bookman Old Style"/>
              <a:buNone/>
              <a:defRPr sz="3600" b="0" i="0" u="none" strike="noStrike" cap="none">
                <a:solidFill>
                  <a:srgbClr val="214B8C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body" idx="1"/>
          </p:nvPr>
        </p:nvSpPr>
        <p:spPr>
          <a:xfrm>
            <a:off x="838200" y="1511107"/>
            <a:ext cx="10515600" cy="436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sldNum" idx="12"/>
          </p:nvPr>
        </p:nvSpPr>
        <p:spPr>
          <a:xfrm>
            <a:off x="10393047" y="6311899"/>
            <a:ext cx="1500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14" name="Google Shape;14;p1">
            <a:hlinkClick r:id="rId13"/>
          </p:cNvPr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115747" y="6184361"/>
            <a:ext cx="3239999" cy="59801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" name="Google Shape;15;p1"/>
          <p:cNvCxnSpPr/>
          <p:nvPr/>
        </p:nvCxnSpPr>
        <p:spPr>
          <a:xfrm>
            <a:off x="3472405" y="6227180"/>
            <a:ext cx="0" cy="5439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/>
          <p:nvPr/>
        </p:nvSpPr>
        <p:spPr>
          <a:xfrm>
            <a:off x="0" y="6108732"/>
            <a:ext cx="12192000" cy="749268"/>
          </a:xfrm>
          <a:prstGeom prst="rect">
            <a:avLst/>
          </a:prstGeom>
          <a:solidFill>
            <a:srgbClr val="214B8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13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942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4B8C"/>
              </a:buClr>
              <a:buSzPts val="3600"/>
              <a:buFont typeface="Bookman Old Style"/>
              <a:buNone/>
              <a:defRPr sz="3600" b="0" i="0" u="none" strike="noStrike" cap="none">
                <a:solidFill>
                  <a:srgbClr val="214B8C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9" name="Google Shape;69;p13"/>
          <p:cNvSpPr txBox="1">
            <a:spLocks noGrp="1"/>
          </p:cNvSpPr>
          <p:nvPr>
            <p:ph type="body" idx="1"/>
          </p:nvPr>
        </p:nvSpPr>
        <p:spPr>
          <a:xfrm>
            <a:off x="838200" y="1511107"/>
            <a:ext cx="10515600" cy="4368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0" name="Google Shape;70;p13"/>
          <p:cNvSpPr txBox="1">
            <a:spLocks noGrp="1"/>
          </p:cNvSpPr>
          <p:nvPr>
            <p:ph type="sldNum" idx="12"/>
          </p:nvPr>
        </p:nvSpPr>
        <p:spPr>
          <a:xfrm>
            <a:off x="10393047" y="6311899"/>
            <a:ext cx="15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71" name="Google Shape;71;p13">
            <a:hlinkClick r:id="rId13"/>
          </p:cNvPr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115747" y="6184361"/>
            <a:ext cx="3239999" cy="59801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2" name="Google Shape;72;p13"/>
          <p:cNvCxnSpPr/>
          <p:nvPr/>
        </p:nvCxnSpPr>
        <p:spPr>
          <a:xfrm>
            <a:off x="3472405" y="6227180"/>
            <a:ext cx="0" cy="54401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5"/>
          <p:cNvSpPr txBox="1">
            <a:spLocks noGrp="1"/>
          </p:cNvSpPr>
          <p:nvPr>
            <p:ph type="ctrTitle"/>
          </p:nvPr>
        </p:nvSpPr>
        <p:spPr>
          <a:xfrm>
            <a:off x="0" y="766910"/>
            <a:ext cx="12192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Bookman Old Style"/>
              <a:buNone/>
            </a:pPr>
            <a:r>
              <a:rPr lang="en-IN" sz="4400" dirty="0"/>
              <a:t>Graph Based Methods for Personalised News Recommendation</a:t>
            </a:r>
            <a:endParaRPr sz="4400" dirty="0"/>
          </a:p>
        </p:txBody>
      </p:sp>
      <p:sp>
        <p:nvSpPr>
          <p:cNvPr id="128" name="Google Shape;128;p25"/>
          <p:cNvSpPr txBox="1">
            <a:spLocks noGrp="1"/>
          </p:cNvSpPr>
          <p:nvPr>
            <p:ph type="body" idx="2"/>
          </p:nvPr>
        </p:nvSpPr>
        <p:spPr>
          <a:xfrm>
            <a:off x="96520" y="3561684"/>
            <a:ext cx="7246960" cy="135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IN" sz="2400" dirty="0">
                <a:solidFill>
                  <a:schemeClr val="lt1"/>
                </a:solidFill>
              </a:rPr>
              <a:t>Naga Satya Sai Sumakar Kothamasu</a:t>
            </a:r>
            <a:endParaRPr sz="2400"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IN" sz="2400" dirty="0">
                <a:solidFill>
                  <a:schemeClr val="lt1"/>
                </a:solidFill>
              </a:rPr>
              <a:t>CS22B1077</a:t>
            </a:r>
            <a:endParaRPr sz="2400" dirty="0">
              <a:solidFill>
                <a:schemeClr val="lt1"/>
              </a:solidFill>
            </a:endParaRPr>
          </a:p>
        </p:txBody>
      </p:sp>
      <p:sp>
        <p:nvSpPr>
          <p:cNvPr id="130" name="Google Shape;130;p25"/>
          <p:cNvSpPr txBox="1"/>
          <p:nvPr/>
        </p:nvSpPr>
        <p:spPr>
          <a:xfrm>
            <a:off x="6896580" y="5322958"/>
            <a:ext cx="4862100" cy="135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IN" sz="2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Prof. Sivaselvan B</a:t>
            </a: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IN" sz="2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Dept. of CSE</a:t>
            </a:r>
            <a:endParaRPr lang="en-IN" sz="2400" dirty="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IN" sz="2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IIITDM Kancheepuram</a:t>
            </a:r>
            <a:endParaRPr sz="2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9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IN"/>
              <a:t>Table of Contents</a:t>
            </a:r>
            <a:endParaRPr/>
          </a:p>
        </p:txBody>
      </p:sp>
      <p:sp>
        <p:nvSpPr>
          <p:cNvPr id="137" name="Google Shape;137;p26"/>
          <p:cNvSpPr txBox="1">
            <a:spLocks noGrp="1"/>
          </p:cNvSpPr>
          <p:nvPr>
            <p:ph type="body" idx="1"/>
          </p:nvPr>
        </p:nvSpPr>
        <p:spPr>
          <a:xfrm>
            <a:off x="838200" y="1511107"/>
            <a:ext cx="10515600" cy="436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IN" dirty="0"/>
              <a:t>Introduction  </a:t>
            </a:r>
            <a:endParaRPr dirty="0"/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IN" dirty="0"/>
              <a:t>Problem Definition</a:t>
            </a:r>
            <a:endParaRPr dirty="0"/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IN" dirty="0"/>
              <a:t>Literature Survey </a:t>
            </a:r>
            <a:endParaRPr dirty="0"/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IN" dirty="0"/>
              <a:t>Progress/ Work done</a:t>
            </a:r>
            <a:endParaRPr dirty="0"/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IN" dirty="0"/>
              <a:t>Results/ Analysis</a:t>
            </a:r>
            <a:endParaRPr dirty="0"/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IN" dirty="0"/>
              <a:t>Conclusion</a:t>
            </a:r>
            <a:endParaRPr dirty="0"/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IN" dirty="0"/>
              <a:t>Future Work</a:t>
            </a:r>
            <a:endParaRPr dirty="0"/>
          </a:p>
          <a:p>
            <a:pPr marL="4572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dirty="0"/>
          </a:p>
        </p:txBody>
      </p:sp>
      <p:sp>
        <p:nvSpPr>
          <p:cNvPr id="138" name="Google Shape;138;p26"/>
          <p:cNvSpPr txBox="1">
            <a:spLocks noGrp="1"/>
          </p:cNvSpPr>
          <p:nvPr>
            <p:ph type="sldNum" idx="12"/>
          </p:nvPr>
        </p:nvSpPr>
        <p:spPr>
          <a:xfrm>
            <a:off x="10370916" y="6311899"/>
            <a:ext cx="15231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fld id="{00000000-1234-1234-1234-123412341234}" type="slidenum">
              <a:rPr lang="en-IN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7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9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IN"/>
              <a:t>Weekly Review Report</a:t>
            </a:r>
            <a:endParaRPr/>
          </a:p>
        </p:txBody>
      </p:sp>
      <p:sp>
        <p:nvSpPr>
          <p:cNvPr id="146" name="Google Shape;146;p27"/>
          <p:cNvSpPr txBox="1">
            <a:spLocks noGrp="1"/>
          </p:cNvSpPr>
          <p:nvPr>
            <p:ph type="sldNum" idx="12"/>
          </p:nvPr>
        </p:nvSpPr>
        <p:spPr>
          <a:xfrm>
            <a:off x="10370916" y="6311899"/>
            <a:ext cx="15231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fld id="{00000000-1234-1234-1234-123412341234}" type="slidenum">
              <a:rPr lang="en-IN"/>
              <a:t>3</a:t>
            </a:fld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2E11BE0-BBB8-5B20-CF0A-4207FF7197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093509"/>
            <a:ext cx="5257800" cy="500563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9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9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IN"/>
              <a:t>Introduction</a:t>
            </a:r>
            <a:endParaRPr/>
          </a:p>
        </p:txBody>
      </p:sp>
      <p:sp>
        <p:nvSpPr>
          <p:cNvPr id="161" name="Google Shape;161;p29"/>
          <p:cNvSpPr txBox="1">
            <a:spLocks noGrp="1"/>
          </p:cNvSpPr>
          <p:nvPr>
            <p:ph type="body" idx="1"/>
          </p:nvPr>
        </p:nvSpPr>
        <p:spPr>
          <a:xfrm>
            <a:off x="838200" y="1511107"/>
            <a:ext cx="10515600" cy="436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IN" sz="2400" dirty="0"/>
              <a:t>Explosion of online news - </a:t>
            </a:r>
            <a:r>
              <a:rPr lang="en-IN" sz="2400" b="1" dirty="0"/>
              <a:t>information overload</a:t>
            </a:r>
            <a:endParaRPr lang="en-IN" sz="2400" dirty="0"/>
          </a:p>
          <a:p>
            <a:r>
              <a:rPr lang="en-IN" sz="2400" dirty="0"/>
              <a:t>Personalized news recommendation is essential</a:t>
            </a:r>
          </a:p>
          <a:p>
            <a:r>
              <a:rPr lang="en-IN" sz="2400" dirty="0"/>
              <a:t>Traditional models:</a:t>
            </a:r>
          </a:p>
          <a:p>
            <a:pPr lvl="1"/>
            <a:r>
              <a:rPr lang="en-IN" dirty="0"/>
              <a:t>Collaborative Filtering (MF, NCF)</a:t>
            </a:r>
          </a:p>
          <a:p>
            <a:pPr lvl="1"/>
            <a:r>
              <a:rPr lang="en-IN" dirty="0"/>
              <a:t>Deep Learning models (RNN, CNN, Attention)</a:t>
            </a:r>
          </a:p>
          <a:p>
            <a:r>
              <a:rPr lang="en-IN" sz="2400" dirty="0"/>
              <a:t>Recent trend: </a:t>
            </a:r>
            <a:r>
              <a:rPr lang="en-IN" sz="2400" b="1" dirty="0"/>
              <a:t>Graph Neural Networks (GNNs)</a:t>
            </a:r>
            <a:r>
              <a:rPr lang="en-IN" sz="2400" dirty="0"/>
              <a:t> capture high-order user–item relationships</a:t>
            </a:r>
          </a:p>
          <a:p>
            <a:r>
              <a:rPr lang="en-IN" sz="2400" dirty="0"/>
              <a:t>Key Motivation: User interests are dynamic, multi-faceted, and structurally connected - Graph models can model this better.</a:t>
            </a:r>
          </a:p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endParaRPr sz="2400" dirty="0"/>
          </a:p>
        </p:txBody>
      </p:sp>
      <p:sp>
        <p:nvSpPr>
          <p:cNvPr id="162" name="Google Shape;162;p29"/>
          <p:cNvSpPr txBox="1">
            <a:spLocks noGrp="1"/>
          </p:cNvSpPr>
          <p:nvPr>
            <p:ph type="sldNum" idx="12"/>
          </p:nvPr>
        </p:nvSpPr>
        <p:spPr>
          <a:xfrm>
            <a:off x="10370916" y="6311899"/>
            <a:ext cx="15231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fld id="{00000000-1234-1234-1234-123412341234}" type="slidenum">
              <a:rPr lang="en-IN"/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9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IN"/>
              <a:t>Problem Definition</a:t>
            </a:r>
            <a:endParaRPr/>
          </a:p>
        </p:txBody>
      </p:sp>
      <p:sp>
        <p:nvSpPr>
          <p:cNvPr id="169" name="Google Shape;169;p30"/>
          <p:cNvSpPr txBox="1">
            <a:spLocks noGrp="1"/>
          </p:cNvSpPr>
          <p:nvPr>
            <p:ph type="body" idx="1"/>
          </p:nvPr>
        </p:nvSpPr>
        <p:spPr>
          <a:xfrm>
            <a:off x="838200" y="1308326"/>
            <a:ext cx="10515600" cy="436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2000" b="1" dirty="0"/>
              <a:t>The Problem:</a:t>
            </a:r>
          </a:p>
          <a:p>
            <a:r>
              <a:rPr lang="en-US" sz="2000" dirty="0"/>
              <a:t>Traditional models fail to capture high-order user–news relationships.</a:t>
            </a:r>
          </a:p>
          <a:p>
            <a:r>
              <a:rPr lang="en-US" sz="2000" dirty="0"/>
              <a:t>Data sparsity limits effective preference learning.</a:t>
            </a:r>
          </a:p>
          <a:p>
            <a:r>
              <a:rPr lang="en-US" sz="2000" dirty="0"/>
              <a:t>Cold start problem for new users and newly published news.</a:t>
            </a:r>
          </a:p>
          <a:p>
            <a:r>
              <a:rPr lang="en-US" sz="2000" dirty="0"/>
              <a:t>Limited use of graph structure in news recommendation.</a:t>
            </a:r>
          </a:p>
          <a:p>
            <a:r>
              <a:rPr lang="en-US" sz="2000" dirty="0"/>
              <a:t>Existing GNN models are often over-complex and inefficient.</a:t>
            </a:r>
          </a:p>
          <a:p>
            <a:pPr marL="114300" indent="0">
              <a:buNone/>
            </a:pPr>
            <a:r>
              <a:rPr lang="en-US" sz="2000" b="1" dirty="0"/>
              <a:t>What does this solve?</a:t>
            </a:r>
          </a:p>
          <a:p>
            <a:r>
              <a:rPr lang="en-IN" sz="2000" dirty="0"/>
              <a:t>Leverages graph-based embedding propagation to model high-order connectivity.</a:t>
            </a:r>
          </a:p>
          <a:p>
            <a:r>
              <a:rPr lang="en-IN" sz="2000" dirty="0"/>
              <a:t>Improves performance under sparse data settings.</a:t>
            </a:r>
          </a:p>
          <a:p>
            <a:r>
              <a:rPr lang="en-IN" sz="2000" dirty="0"/>
              <a:t>Reduces cold start impact via structural information modelling.</a:t>
            </a:r>
          </a:p>
          <a:p>
            <a:r>
              <a:rPr lang="en-IN" sz="2000" dirty="0"/>
              <a:t>Designs a simplified and efficient GNN-based framework for news recommendation.</a:t>
            </a:r>
          </a:p>
        </p:txBody>
      </p:sp>
      <p:sp>
        <p:nvSpPr>
          <p:cNvPr id="170" name="Google Shape;170;p30"/>
          <p:cNvSpPr txBox="1">
            <a:spLocks noGrp="1"/>
          </p:cNvSpPr>
          <p:nvPr>
            <p:ph type="sldNum" idx="12"/>
          </p:nvPr>
        </p:nvSpPr>
        <p:spPr>
          <a:xfrm>
            <a:off x="10370916" y="6311899"/>
            <a:ext cx="15231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fld id="{00000000-1234-1234-1234-123412341234}" type="slidenum">
              <a:rPr lang="en-IN"/>
              <a:t>5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1"/>
          <p:cNvSpPr txBox="1">
            <a:spLocks noGrp="1"/>
          </p:cNvSpPr>
          <p:nvPr>
            <p:ph type="title"/>
          </p:nvPr>
        </p:nvSpPr>
        <p:spPr>
          <a:xfrm>
            <a:off x="838200" y="315539"/>
            <a:ext cx="10515600" cy="9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IN" dirty="0"/>
              <a:t>Literature Survey</a:t>
            </a:r>
            <a:endParaRPr dirty="0"/>
          </a:p>
        </p:txBody>
      </p:sp>
      <p:sp>
        <p:nvSpPr>
          <p:cNvPr id="177" name="Google Shape;177;p31"/>
          <p:cNvSpPr txBox="1">
            <a:spLocks noGrp="1"/>
          </p:cNvSpPr>
          <p:nvPr>
            <p:ph type="body" idx="1"/>
          </p:nvPr>
        </p:nvSpPr>
        <p:spPr>
          <a:xfrm>
            <a:off x="838200" y="1084293"/>
            <a:ext cx="10515600" cy="49865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2000" dirty="0"/>
              <a:t>Deep Learning Based News Models: Mostly model local or sequential patterns. Limited high-order structural modeling.</a:t>
            </a:r>
          </a:p>
          <a:p>
            <a:r>
              <a:rPr lang="en-US" sz="2000" dirty="0"/>
              <a:t>Graph Neural Network Based Recommenders</a:t>
            </a:r>
          </a:p>
          <a:p>
            <a:pPr lvl="1"/>
            <a:r>
              <a:rPr lang="en-US" sz="2000" dirty="0"/>
              <a:t>NGCF - Embedding propagation over user-item graph</a:t>
            </a:r>
          </a:p>
          <a:p>
            <a:pPr lvl="1"/>
            <a:r>
              <a:rPr lang="en-US" sz="2000" dirty="0"/>
              <a:t>LightGCN - Simplified propagation (no feature transform, no activation)</a:t>
            </a:r>
          </a:p>
          <a:p>
            <a:pPr lvl="1"/>
            <a:r>
              <a:rPr lang="en-US" sz="2000" dirty="0"/>
              <a:t>Knowledge-aware models (Ripple-style propagation)</a:t>
            </a:r>
          </a:p>
          <a:p>
            <a:pPr lvl="1"/>
            <a:r>
              <a:rPr lang="en-US" sz="2000" dirty="0"/>
              <a:t>GREP, DivHGNN, etc.</a:t>
            </a:r>
          </a:p>
          <a:p>
            <a:r>
              <a:rPr lang="en-US" sz="2000" dirty="0"/>
              <a:t>Advantages:</a:t>
            </a:r>
          </a:p>
          <a:p>
            <a:pPr lvl="1"/>
            <a:r>
              <a:rPr lang="en-US" sz="2000" dirty="0"/>
              <a:t>Captures high-order connectivity</a:t>
            </a:r>
          </a:p>
          <a:p>
            <a:pPr lvl="1"/>
            <a:r>
              <a:rPr lang="en-US" sz="2000" dirty="0"/>
              <a:t>Explicit collaborative signal modeling</a:t>
            </a:r>
          </a:p>
          <a:p>
            <a:r>
              <a:rPr lang="en-US" sz="2000" dirty="0"/>
              <a:t>Limitations:</a:t>
            </a:r>
          </a:p>
          <a:p>
            <a:pPr lvl="1"/>
            <a:r>
              <a:rPr lang="en-US" sz="2000" dirty="0"/>
              <a:t>Over-smoothing</a:t>
            </a:r>
          </a:p>
          <a:p>
            <a:pPr lvl="1"/>
            <a:r>
              <a:rPr lang="en-US" sz="2000" dirty="0"/>
              <a:t>Computational complexity</a:t>
            </a:r>
          </a:p>
          <a:p>
            <a:pPr lvl="1"/>
            <a:r>
              <a:rPr lang="en-US" sz="2000" dirty="0"/>
              <a:t>Not tailored specifically for news dynamics</a:t>
            </a:r>
          </a:p>
          <a:p>
            <a:pPr lvl="1"/>
            <a:endParaRPr lang="en-US" sz="2000" dirty="0"/>
          </a:p>
          <a:p>
            <a:endParaRPr lang="en-US" sz="2000" dirty="0"/>
          </a:p>
        </p:txBody>
      </p:sp>
      <p:sp>
        <p:nvSpPr>
          <p:cNvPr id="178" name="Google Shape;178;p31"/>
          <p:cNvSpPr txBox="1">
            <a:spLocks noGrp="1"/>
          </p:cNvSpPr>
          <p:nvPr>
            <p:ph type="sldNum" idx="12"/>
          </p:nvPr>
        </p:nvSpPr>
        <p:spPr>
          <a:xfrm>
            <a:off x="10370916" y="6311899"/>
            <a:ext cx="15231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fld id="{00000000-1234-1234-1234-123412341234}" type="slidenum">
              <a:rPr lang="en-IN"/>
              <a:t>6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9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IN" dirty="0"/>
              <a:t>Work Done</a:t>
            </a:r>
            <a:endParaRPr dirty="0"/>
          </a:p>
        </p:txBody>
      </p:sp>
      <p:sp>
        <p:nvSpPr>
          <p:cNvPr id="185" name="Google Shape;185;p32"/>
          <p:cNvSpPr txBox="1">
            <a:spLocks noGrp="1"/>
          </p:cNvSpPr>
          <p:nvPr>
            <p:ph type="body" idx="1"/>
          </p:nvPr>
        </p:nvSpPr>
        <p:spPr>
          <a:xfrm>
            <a:off x="753360" y="1308326"/>
            <a:ext cx="6973196" cy="436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2000" dirty="0"/>
              <a:t>Completed comprehensive literature review on GNN-based and news recommendation models.</a:t>
            </a:r>
          </a:p>
          <a:p>
            <a:r>
              <a:rPr lang="en-US" sz="2000" dirty="0"/>
              <a:t>Analyzed and selected graph-based architecture suitable for news recommendation.</a:t>
            </a:r>
          </a:p>
          <a:p>
            <a:r>
              <a:rPr lang="en-US" sz="2000" dirty="0"/>
              <a:t>Implemented baseline GNN model (GREP) with user-news interaction graph construction.</a:t>
            </a:r>
          </a:p>
          <a:p>
            <a:r>
              <a:rPr lang="en-US" sz="2000" dirty="0"/>
              <a:t>Developed training and evaluation pipeline with ranking metrics (AUC, MRR, nDCG@5, nDCG@10).</a:t>
            </a:r>
          </a:p>
          <a:p>
            <a:r>
              <a:rPr lang="en-US" sz="2000" dirty="0"/>
              <a:t>Conducted experiments and analyzed effects of propagation depth and model simplification.</a:t>
            </a:r>
          </a:p>
          <a:p>
            <a:r>
              <a:rPr lang="en-US" sz="2000" dirty="0"/>
              <a:t>Dataset Used: MIND Small</a:t>
            </a:r>
          </a:p>
        </p:txBody>
      </p:sp>
      <p:sp>
        <p:nvSpPr>
          <p:cNvPr id="186" name="Google Shape;186;p32"/>
          <p:cNvSpPr txBox="1">
            <a:spLocks noGrp="1"/>
          </p:cNvSpPr>
          <p:nvPr>
            <p:ph type="sldNum" idx="12"/>
          </p:nvPr>
        </p:nvSpPr>
        <p:spPr>
          <a:xfrm>
            <a:off x="10370916" y="6311899"/>
            <a:ext cx="15231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fld id="{00000000-1234-1234-1234-123412341234}" type="slidenum">
              <a:rPr lang="en-IN"/>
              <a:t>7</a:t>
            </a:fld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7CE03AE-9E71-E4A2-425C-0EA3E76FE0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1396" y="1308326"/>
            <a:ext cx="3922901" cy="3109540"/>
          </a:xfrm>
          <a:prstGeom prst="rect">
            <a:avLst/>
          </a:prstGeom>
        </p:spPr>
      </p:pic>
      <p:sp>
        <p:nvSpPr>
          <p:cNvPr id="2" name="Google Shape;185;p32">
            <a:extLst>
              <a:ext uri="{FF2B5EF4-FFF2-40B4-BE49-F238E27FC236}">
                <a16:creationId xmlns:a16="http://schemas.microsoft.com/office/drawing/2014/main" id="{61AD4157-2948-7339-E8EB-74CD18125251}"/>
              </a:ext>
            </a:extLst>
          </p:cNvPr>
          <p:cNvSpPr txBox="1">
            <a:spLocks/>
          </p:cNvSpPr>
          <p:nvPr/>
        </p:nvSpPr>
        <p:spPr>
          <a:xfrm>
            <a:off x="8387613" y="4143906"/>
            <a:ext cx="2770465" cy="547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114300" indent="0" algn="ctr">
              <a:buNone/>
            </a:pPr>
            <a:r>
              <a:rPr lang="en-US" sz="1800" dirty="0"/>
              <a:t>Dataset description</a:t>
            </a:r>
          </a:p>
          <a:p>
            <a:pPr marL="114300" indent="0" algn="ctr">
              <a:buNone/>
            </a:pPr>
            <a:r>
              <a:rPr lang="en-US" sz="1800" dirty="0"/>
              <a:t>(MIND Small)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67D20-EBAE-90C4-1D85-BF1A3BB1BD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6798" y="624556"/>
            <a:ext cx="3535837" cy="942814"/>
          </a:xfrm>
        </p:spPr>
        <p:txBody>
          <a:bodyPr/>
          <a:lstStyle/>
          <a:p>
            <a:r>
              <a:rPr lang="en-IN" dirty="0"/>
              <a:t>GREP Large</a:t>
            </a:r>
            <a:br>
              <a:rPr lang="en-IN" dirty="0"/>
            </a:br>
            <a:r>
              <a:rPr lang="en-IN" dirty="0"/>
              <a:t>Architecture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A8504D6-2E3A-557F-A358-5DA2EA4A1C7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8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96A04F-9305-CB65-2AF8-83AD1BF24F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523" y="365126"/>
            <a:ext cx="6744093" cy="5728351"/>
          </a:xfrm>
          <a:prstGeom prst="rect">
            <a:avLst/>
          </a:prstGeom>
        </p:spPr>
      </p:pic>
      <p:sp>
        <p:nvSpPr>
          <p:cNvPr id="6" name="Google Shape;185;p32">
            <a:extLst>
              <a:ext uri="{FF2B5EF4-FFF2-40B4-BE49-F238E27FC236}">
                <a16:creationId xmlns:a16="http://schemas.microsoft.com/office/drawing/2014/main" id="{5500D722-A53C-3581-F92C-F9E4911EC4D1}"/>
              </a:ext>
            </a:extLst>
          </p:cNvPr>
          <p:cNvSpPr txBox="1">
            <a:spLocks/>
          </p:cNvSpPr>
          <p:nvPr/>
        </p:nvSpPr>
        <p:spPr>
          <a:xfrm>
            <a:off x="696798" y="1826800"/>
            <a:ext cx="4129725" cy="2292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News Encoder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User–News Interaction Graph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Graph Transformer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Existing Interest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Potential Interest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Interest Fusion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Click Prediction</a:t>
            </a:r>
          </a:p>
        </p:txBody>
      </p:sp>
    </p:spTree>
    <p:extLst>
      <p:ext uri="{BB962C8B-B14F-4D97-AF65-F5344CB8AC3E}">
        <p14:creationId xmlns:p14="http://schemas.microsoft.com/office/powerpoint/2010/main" val="11820622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3"/>
          <p:cNvSpPr txBox="1">
            <a:spLocks noGrp="1"/>
          </p:cNvSpPr>
          <p:nvPr>
            <p:ph type="title"/>
          </p:nvPr>
        </p:nvSpPr>
        <p:spPr>
          <a:xfrm>
            <a:off x="838200" y="374553"/>
            <a:ext cx="10515600" cy="9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IN" dirty="0"/>
              <a:t>Analysis/ Results</a:t>
            </a:r>
            <a:endParaRPr dirty="0"/>
          </a:p>
        </p:txBody>
      </p:sp>
      <p:sp>
        <p:nvSpPr>
          <p:cNvPr id="194" name="Google Shape;194;p33"/>
          <p:cNvSpPr txBox="1">
            <a:spLocks noGrp="1"/>
          </p:cNvSpPr>
          <p:nvPr>
            <p:ph type="sldNum" idx="12"/>
          </p:nvPr>
        </p:nvSpPr>
        <p:spPr>
          <a:xfrm>
            <a:off x="10370916" y="6311899"/>
            <a:ext cx="15231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fld id="{00000000-1234-1234-1234-123412341234}" type="slidenum">
              <a:rPr lang="en-IN"/>
              <a:t>9</a:t>
            </a:fld>
            <a:endParaRPr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672F7773-D41A-2EA1-19B0-AC2E326757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62073" y="1317753"/>
            <a:ext cx="11067854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Full GREP &gt; Lightweight Variants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across all evaluation metrics, confirming the effectiveness of full structural modeling.</a:t>
            </a:r>
          </a:p>
          <a:p>
            <a:pPr marL="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GREP Large outperforms GREP Small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showing that multi-layer interest encoding and graph transformer propagation improve recommendation quality.</a:t>
            </a:r>
          </a:p>
          <a:p>
            <a:pPr marL="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MRR closely matches the original paper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(33.74 vs 34.40), indicating strong top-click ranking performance 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even with limited data.</a:t>
            </a:r>
          </a:p>
          <a:p>
            <a:pPr marL="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Lower AUC and nDCG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compared to the paper are mainly due to using 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MIND Small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fewer training epochs, random embeddings, and limited hyperparameter tuning.</a:t>
            </a:r>
          </a:p>
          <a:p>
            <a:pPr marL="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Entity-based graph propagation and gated fusion mechanisms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effectively capture semantic and structural signals, validating the architecture implementation.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A1F08F3-4100-8DEA-DEEB-951BBD9F68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9897" y="4588601"/>
            <a:ext cx="7154119" cy="128679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9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IN"/>
              <a:t>Conclusion</a:t>
            </a:r>
            <a:endParaRPr/>
          </a:p>
        </p:txBody>
      </p:sp>
      <p:sp>
        <p:nvSpPr>
          <p:cNvPr id="209" name="Google Shape;209;p35"/>
          <p:cNvSpPr txBox="1">
            <a:spLocks noGrp="1"/>
          </p:cNvSpPr>
          <p:nvPr>
            <p:ph type="body" idx="1"/>
          </p:nvPr>
        </p:nvSpPr>
        <p:spPr>
          <a:xfrm>
            <a:off x="838200" y="1308326"/>
            <a:ext cx="10515600" cy="436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2000" dirty="0"/>
              <a:t>The implemented GREP architecture effectively captures semantic and structural signals, achieving competitive MRR performance on MIND Small despite computational constraints.</a:t>
            </a:r>
          </a:p>
          <a:p>
            <a:r>
              <a:rPr lang="en-US" sz="2000" dirty="0"/>
              <a:t>Structural modeling through entity graphs provides consistent performance gains, even on limited data.</a:t>
            </a:r>
          </a:p>
          <a:p>
            <a:r>
              <a:rPr lang="en-US" sz="2000" dirty="0"/>
              <a:t>Results show strong ranking capability, with MRR close to the original paper despite computational constraints.</a:t>
            </a:r>
          </a:p>
          <a:p>
            <a:r>
              <a:rPr lang="en-US" sz="2000" dirty="0"/>
              <a:t>Performance is sensitive to dataset scale and training setup.</a:t>
            </a:r>
          </a:p>
          <a:p>
            <a:r>
              <a:rPr lang="en-US" sz="2000" dirty="0"/>
              <a:t>The model shows clear scalability potential, with expected improvements on larger datasets and better tuning.</a:t>
            </a:r>
          </a:p>
        </p:txBody>
      </p:sp>
      <p:sp>
        <p:nvSpPr>
          <p:cNvPr id="210" name="Google Shape;210;p35"/>
          <p:cNvSpPr txBox="1">
            <a:spLocks noGrp="1"/>
          </p:cNvSpPr>
          <p:nvPr>
            <p:ph type="sldNum" idx="12"/>
          </p:nvPr>
        </p:nvSpPr>
        <p:spPr>
          <a:xfrm>
            <a:off x="10370916" y="6311899"/>
            <a:ext cx="15231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fld id="{00000000-1234-1234-1234-123412341234}" type="slidenum">
              <a:rPr lang="en-IN"/>
              <a:t>10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9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IN"/>
              <a:t>Future Work</a:t>
            </a:r>
            <a:endParaRPr/>
          </a:p>
        </p:txBody>
      </p:sp>
      <p:sp>
        <p:nvSpPr>
          <p:cNvPr id="217" name="Google Shape;217;p36"/>
          <p:cNvSpPr txBox="1">
            <a:spLocks noGrp="1"/>
          </p:cNvSpPr>
          <p:nvPr>
            <p:ph type="body" idx="1"/>
          </p:nvPr>
        </p:nvSpPr>
        <p:spPr>
          <a:xfrm>
            <a:off x="838200" y="1308326"/>
            <a:ext cx="10515600" cy="436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2000" b="1" dirty="0"/>
              <a:t>Temporal &amp; Dynamic Interest Modeling</a:t>
            </a:r>
            <a:r>
              <a:rPr lang="en-US" sz="2000" dirty="0"/>
              <a:t>: Incorporate time-aware attention and recency-based graph propagation to model evolving user interests.</a:t>
            </a:r>
          </a:p>
          <a:p>
            <a:r>
              <a:rPr lang="en-US" sz="2000" b="1" dirty="0"/>
              <a:t>Cold-Start</a:t>
            </a:r>
            <a:r>
              <a:rPr lang="en-US" sz="2000" dirty="0"/>
              <a:t>: Improve performance for new users and new news articles using entity-level propagation and knowledge-aware representations.</a:t>
            </a:r>
          </a:p>
          <a:p>
            <a:r>
              <a:rPr lang="en-US" sz="2000" dirty="0"/>
              <a:t>Explore adaptive propagation depth, improved interest fusion strategies, and lightweight vs deeper graph designs.</a:t>
            </a:r>
          </a:p>
          <a:p>
            <a:r>
              <a:rPr lang="en-US" sz="2000" dirty="0"/>
              <a:t>Integrate </a:t>
            </a:r>
            <a:r>
              <a:rPr lang="en-US" sz="2000" b="1" dirty="0"/>
              <a:t>pre-trained embeddings</a:t>
            </a:r>
            <a:r>
              <a:rPr lang="en-US" sz="2000" dirty="0"/>
              <a:t>(</a:t>
            </a:r>
            <a:r>
              <a:rPr lang="en-US" sz="2000" dirty="0" err="1"/>
              <a:t>GloVe</a:t>
            </a:r>
            <a:r>
              <a:rPr lang="en-US" sz="2000" dirty="0"/>
              <a:t>) and explore graph contrastive learning to improve embedding stability and generalization.</a:t>
            </a:r>
          </a:p>
          <a:p>
            <a:r>
              <a:rPr lang="en-US" sz="2000" dirty="0"/>
              <a:t>Validate scalability and generalization on </a:t>
            </a:r>
            <a:r>
              <a:rPr lang="en-US" sz="2000" b="1" dirty="0"/>
              <a:t>MIND Large</a:t>
            </a:r>
            <a:r>
              <a:rPr lang="en-US" sz="2000" dirty="0"/>
              <a:t> and other public news datasets.</a:t>
            </a:r>
          </a:p>
        </p:txBody>
      </p:sp>
      <p:sp>
        <p:nvSpPr>
          <p:cNvPr id="218" name="Google Shape;218;p36"/>
          <p:cNvSpPr txBox="1">
            <a:spLocks noGrp="1"/>
          </p:cNvSpPr>
          <p:nvPr>
            <p:ph type="sldNum" idx="12"/>
          </p:nvPr>
        </p:nvSpPr>
        <p:spPr>
          <a:xfrm>
            <a:off x="10370916" y="6311899"/>
            <a:ext cx="15231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fld id="{00000000-1234-1234-1234-123412341234}" type="slidenum">
              <a:rPr lang="en-IN"/>
              <a:t>11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7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9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IN"/>
              <a:t>References</a:t>
            </a:r>
            <a:endParaRPr/>
          </a:p>
        </p:txBody>
      </p:sp>
      <p:sp>
        <p:nvSpPr>
          <p:cNvPr id="225" name="Google Shape;225;p37"/>
          <p:cNvSpPr txBox="1">
            <a:spLocks noGrp="1"/>
          </p:cNvSpPr>
          <p:nvPr>
            <p:ph type="body" idx="1"/>
          </p:nvPr>
        </p:nvSpPr>
        <p:spPr>
          <a:xfrm>
            <a:off x="838200" y="1244550"/>
            <a:ext cx="10515600" cy="436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indent="-457200">
              <a:buFont typeface="Arial"/>
              <a:buAutoNum type="arabicPeriod"/>
            </a:pPr>
            <a:r>
              <a:rPr lang="en-IN" sz="2000" dirty="0"/>
              <a:t>Q. Qiu, F. Wu, C. Wu, Y. Huang, and X. Xie, “GREP: Graph neural news recommendation with user existing and potential interest modelling,” ACM Transactions on Knowledge Discovery from Data (TKDD), vol. 16, no. 4, pp. 1–25, 2022.</a:t>
            </a:r>
          </a:p>
          <a:p>
            <a:pPr lvl="0" indent="-457200">
              <a:buFont typeface="Arial"/>
              <a:buAutoNum type="arabicPeriod"/>
            </a:pPr>
            <a:r>
              <a:rPr lang="en-IN" sz="2000" dirty="0"/>
              <a:t>C. Gao, Y. Zheng, N. Li, Y. Li, Y. Qin, J. Piao, Y. Quan, J. Chang, D. Jin, X. He, and Y. Li, “A survey of graph neural networks for recommender systems: Challenges, methods, and directions,” ACM Transactions on Recommender Systems, vol. 1, no. 1, p. Article 3, 2023.</a:t>
            </a:r>
          </a:p>
          <a:p>
            <a:pPr lvl="0" indent="-457200">
              <a:buFont typeface="Arial"/>
              <a:buAutoNum type="arabicPeriod"/>
            </a:pPr>
            <a:r>
              <a:rPr lang="en-US" sz="2000" dirty="0"/>
              <a:t>G. Zhang, D. Li, H. Gu, T. Lu, and N. Gu, “Heterogeneous graph neural network with personalized and adaptive diversity for news recommendation,” ACM Trans actions on the Web, vol. 18, no. 3, p. Article 34, 2024.</a:t>
            </a:r>
          </a:p>
          <a:p>
            <a:pPr lvl="0" indent="-457200">
              <a:buFont typeface="Arial"/>
              <a:buAutoNum type="arabicPeriod"/>
            </a:pPr>
            <a:r>
              <a:rPr lang="en-US" sz="2000" dirty="0"/>
              <a:t>X. He, K. Deng, X. Wang, Y. Li, Y. Zhang, and M. Wang, “</a:t>
            </a:r>
            <a:r>
              <a:rPr lang="en-US" sz="2000" dirty="0" err="1"/>
              <a:t>Lightgcn</a:t>
            </a:r>
            <a:r>
              <a:rPr lang="en-US" sz="2000" dirty="0"/>
              <a:t>: Simplifying and powering graph convolution network for recommendation,” in Proceedings of the 43rd International ACM SIGIR Conference on Research and Development in Information Retrieval (SIGIR).</a:t>
            </a:r>
            <a:endParaRPr sz="2000" dirty="0"/>
          </a:p>
        </p:txBody>
      </p:sp>
      <p:sp>
        <p:nvSpPr>
          <p:cNvPr id="226" name="Google Shape;226;p37"/>
          <p:cNvSpPr txBox="1">
            <a:spLocks noGrp="1"/>
          </p:cNvSpPr>
          <p:nvPr>
            <p:ph type="sldNum" idx="12"/>
          </p:nvPr>
        </p:nvSpPr>
        <p:spPr>
          <a:xfrm>
            <a:off x="10370916" y="6311899"/>
            <a:ext cx="15231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fld id="{00000000-1234-1234-1234-123412341234}" type="slidenum">
              <a:rPr lang="en-IN"/>
              <a:t>12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8"/>
          <p:cNvSpPr txBox="1">
            <a:spLocks noGrp="1"/>
          </p:cNvSpPr>
          <p:nvPr>
            <p:ph type="sldNum" idx="12"/>
          </p:nvPr>
        </p:nvSpPr>
        <p:spPr>
          <a:xfrm>
            <a:off x="10370916" y="6311899"/>
            <a:ext cx="15231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fld id="{00000000-1234-1234-1234-123412341234}" type="slidenum">
              <a:rPr lang="en-IN"/>
              <a:t>13</a:t>
            </a:fld>
            <a:endParaRPr/>
          </a:p>
        </p:txBody>
      </p:sp>
      <p:sp>
        <p:nvSpPr>
          <p:cNvPr id="233" name="Google Shape;233;p38"/>
          <p:cNvSpPr txBox="1">
            <a:spLocks noGrp="1"/>
          </p:cNvSpPr>
          <p:nvPr>
            <p:ph type="title"/>
          </p:nvPr>
        </p:nvSpPr>
        <p:spPr>
          <a:xfrm>
            <a:off x="270929" y="2213979"/>
            <a:ext cx="11834648" cy="2301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IN"/>
              <a:t>Thank You</a:t>
            </a:r>
            <a:br>
              <a:rPr lang="en-IN"/>
            </a:br>
            <a:br>
              <a:rPr lang="en-IN"/>
            </a:br>
            <a:r>
              <a:rPr lang="en-IN"/>
              <a:t>Any Questions?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IITDM PPT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IIITDM PPT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800</TotalTime>
  <Words>948</Words>
  <Application>Microsoft Office PowerPoint</Application>
  <PresentationFormat>Widescreen</PresentationFormat>
  <Paragraphs>113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Bookman Old Style</vt:lpstr>
      <vt:lpstr>Calibri</vt:lpstr>
      <vt:lpstr>IIITDM PPT</vt:lpstr>
      <vt:lpstr>IIITDM PPT</vt:lpstr>
      <vt:lpstr>Graph Based Methods for Personalised News Recommendation</vt:lpstr>
      <vt:lpstr>Table of Contents</vt:lpstr>
      <vt:lpstr>Weekly Review Report</vt:lpstr>
      <vt:lpstr>Introduction</vt:lpstr>
      <vt:lpstr>Problem Definition</vt:lpstr>
      <vt:lpstr>Literature Survey</vt:lpstr>
      <vt:lpstr>Work Done</vt:lpstr>
      <vt:lpstr>GREP Large Architecture</vt:lpstr>
      <vt:lpstr>Analysis/ Results</vt:lpstr>
      <vt:lpstr>Conclusion</vt:lpstr>
      <vt:lpstr>Future Work</vt:lpstr>
      <vt:lpstr>References</vt:lpstr>
      <vt:lpstr>Thank You  Any 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Sai Sumakar</cp:lastModifiedBy>
  <cp:revision>5</cp:revision>
  <dcterms:modified xsi:type="dcterms:W3CDTF">2026-03-03T17:16:53Z</dcterms:modified>
</cp:coreProperties>
</file>