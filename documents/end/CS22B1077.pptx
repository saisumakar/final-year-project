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257" r:id="rId4"/>
    <p:sldId id="258" r:id="rId5"/>
    <p:sldId id="260" r:id="rId6"/>
    <p:sldId id="261" r:id="rId7"/>
    <p:sldId id="262" r:id="rId8"/>
    <p:sldId id="270" r:id="rId9"/>
    <p:sldId id="263" r:id="rId10"/>
    <p:sldId id="271" r:id="rId11"/>
    <p:sldId id="264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EA94EAC2-6885-D4E9-FBD9-423D92F95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08E97D01-CCF1-A887-3FDB-DCEBD08DB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1" name="Google Shape;181;p8:notes">
            <a:extLst>
              <a:ext uri="{FF2B5EF4-FFF2-40B4-BE49-F238E27FC236}">
                <a16:creationId xmlns:a16="http://schemas.microsoft.com/office/drawing/2014/main" id="{5EE99980-633F-F107-49FC-0F77CA59A7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8:notes">
            <a:extLst>
              <a:ext uri="{FF2B5EF4-FFF2-40B4-BE49-F238E27FC236}">
                <a16:creationId xmlns:a16="http://schemas.microsoft.com/office/drawing/2014/main" id="{7C0D1B5A-A45B-1922-F5FF-8F7DDBA264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6322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1055D46F-1C8D-84F3-6DBE-0EA88EA7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F0520739-0A37-DB3A-CE14-2D18A10E7E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1" name="Google Shape;181;p8:notes">
            <a:extLst>
              <a:ext uri="{FF2B5EF4-FFF2-40B4-BE49-F238E27FC236}">
                <a16:creationId xmlns:a16="http://schemas.microsoft.com/office/drawing/2014/main" id="{687F860C-2AA0-FFEE-43F6-3F7FBB04B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8:notes">
            <a:extLst>
              <a:ext uri="{FF2B5EF4-FFF2-40B4-BE49-F238E27FC236}">
                <a16:creationId xmlns:a16="http://schemas.microsoft.com/office/drawing/2014/main" id="{10669820-9D55-6CEE-7D35-8EBAA485E5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1767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1" name="Google Shape;22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9" name="Google Shape;22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12192000" cy="5150700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524000" y="48575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524000" y="3148313"/>
            <a:ext cx="9144000" cy="14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  <a:defRPr sz="2800">
                <a:solidFill>
                  <a:srgbClr val="EDEAEA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402388"/>
            <a:ext cx="6667017" cy="1230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2"/>
          <p:cNvCxnSpPr/>
          <p:nvPr/>
        </p:nvCxnSpPr>
        <p:spPr>
          <a:xfrm>
            <a:off x="6736460" y="5335929"/>
            <a:ext cx="0" cy="1354200"/>
          </a:xfrm>
          <a:prstGeom prst="straightConnector1">
            <a:avLst/>
          </a:prstGeom>
          <a:noFill/>
          <a:ln w="9525" cap="flat" cmpd="sng">
            <a:solidFill>
              <a:srgbClr val="214B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2"/>
          </p:nvPr>
        </p:nvSpPr>
        <p:spPr>
          <a:xfrm>
            <a:off x="7048981" y="5335588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593991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6000"/>
              <a:buFont typeface="Bookman Old Style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473716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8200" y="163425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72200" y="163425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4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5558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379773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5558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379773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 rot="5400000">
            <a:off x="3911550" y="-1562243"/>
            <a:ext cx="43689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 rot="5400000">
            <a:off x="7133400" y="1783000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769700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0"/>
            <a:ext cx="12192000" cy="5150734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ctrTitle"/>
          </p:nvPr>
        </p:nvSpPr>
        <p:spPr>
          <a:xfrm>
            <a:off x="1524000" y="48575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1"/>
          </p:nvPr>
        </p:nvSpPr>
        <p:spPr>
          <a:xfrm>
            <a:off x="1524000" y="3148313"/>
            <a:ext cx="9144000" cy="147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  <a:defRPr sz="2800">
                <a:solidFill>
                  <a:srgbClr val="EDEAEA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402388"/>
            <a:ext cx="6667016" cy="1230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6"/>
          <p:cNvCxnSpPr/>
          <p:nvPr/>
        </p:nvCxnSpPr>
        <p:spPr>
          <a:xfrm>
            <a:off x="6736460" y="5335929"/>
            <a:ext cx="0" cy="1354238"/>
          </a:xfrm>
          <a:prstGeom prst="straightConnector1">
            <a:avLst/>
          </a:prstGeom>
          <a:noFill/>
          <a:ln w="9525" cap="flat" cmpd="sng">
            <a:solidFill>
              <a:srgbClr val="214B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p16"/>
          <p:cNvSpPr txBox="1">
            <a:spLocks noGrp="1"/>
          </p:cNvSpPr>
          <p:nvPr>
            <p:ph type="body" idx="2"/>
          </p:nvPr>
        </p:nvSpPr>
        <p:spPr>
          <a:xfrm>
            <a:off x="7048981" y="5335588"/>
            <a:ext cx="4862031" cy="135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831850" y="1593991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6000"/>
              <a:buFont typeface="Bookman Old Style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831850" y="4473716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838200" y="163425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2"/>
          </p:nvPr>
        </p:nvSpPr>
        <p:spPr>
          <a:xfrm>
            <a:off x="6172200" y="163425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839788" y="365124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839788" y="15558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2"/>
          </p:nvPr>
        </p:nvSpPr>
        <p:spPr>
          <a:xfrm>
            <a:off x="839788" y="2379773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3"/>
          </p:nvPr>
        </p:nvSpPr>
        <p:spPr>
          <a:xfrm>
            <a:off x="6172200" y="15558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4"/>
          </p:nvPr>
        </p:nvSpPr>
        <p:spPr>
          <a:xfrm>
            <a:off x="6172200" y="2379773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 rot="5400000">
            <a:off x="3911584" y="-1562277"/>
            <a:ext cx="4368832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7133431" y="1782969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769731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iiitdm.ac.in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iiitdm.ac.in/" TargetMode="Externa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108732"/>
            <a:ext cx="12192000" cy="749400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Bookman Old Style"/>
              <a:buNone/>
              <a:defRPr sz="3600" b="0" i="0" u="none" strike="noStrike" cap="none">
                <a:solidFill>
                  <a:srgbClr val="214B8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1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5747" y="6184361"/>
            <a:ext cx="3239999" cy="598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1"/>
          <p:cNvCxnSpPr/>
          <p:nvPr/>
        </p:nvCxnSpPr>
        <p:spPr>
          <a:xfrm>
            <a:off x="3472405" y="6227180"/>
            <a:ext cx="0" cy="543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/>
          <p:nvPr/>
        </p:nvSpPr>
        <p:spPr>
          <a:xfrm>
            <a:off x="0" y="6108732"/>
            <a:ext cx="12192000" cy="749268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Bookman Old Style"/>
              <a:buNone/>
              <a:defRPr sz="3600" b="0" i="0" u="none" strike="noStrike" cap="none">
                <a:solidFill>
                  <a:srgbClr val="214B8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1" name="Google Shape;71;p13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5747" y="6184361"/>
            <a:ext cx="3239999" cy="598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3"/>
          <p:cNvCxnSpPr/>
          <p:nvPr/>
        </p:nvCxnSpPr>
        <p:spPr>
          <a:xfrm>
            <a:off x="3472405" y="6227180"/>
            <a:ext cx="0" cy="54401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ctrTitle"/>
          </p:nvPr>
        </p:nvSpPr>
        <p:spPr>
          <a:xfrm>
            <a:off x="622169" y="485754"/>
            <a:ext cx="11001079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5400"/>
            </a:pPr>
            <a:r>
              <a:rPr lang="en-IN" sz="4400" dirty="0"/>
              <a:t>Graph Based Methods for Personalised News Recommendation</a:t>
            </a:r>
            <a:endParaRPr sz="4400" dirty="0"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2"/>
          </p:nvPr>
        </p:nvSpPr>
        <p:spPr>
          <a:xfrm>
            <a:off x="209641" y="3267113"/>
            <a:ext cx="6134598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400" dirty="0">
                <a:solidFill>
                  <a:schemeClr val="lt1"/>
                </a:solidFill>
              </a:rPr>
              <a:t>Naga Satya Sai Sumakar Kothamasu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400" dirty="0">
                <a:solidFill>
                  <a:schemeClr val="lt1"/>
                </a:solidFill>
              </a:rPr>
              <a:t>CS22B1077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129" name="Google Shape;129;p25"/>
          <p:cNvSpPr txBox="1"/>
          <p:nvPr/>
        </p:nvSpPr>
        <p:spPr>
          <a:xfrm>
            <a:off x="5559201" y="3267125"/>
            <a:ext cx="56538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6896580" y="5322958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800"/>
            </a:pPr>
            <a:r>
              <a:rPr lang="en-IN" sz="2400" dirty="0">
                <a:solidFill>
                  <a:schemeClr val="dk1"/>
                </a:solidFill>
              </a:rPr>
              <a:t>Prof. Sivaselvan B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1800"/>
            </a:pPr>
            <a:r>
              <a:rPr lang="en-IN" sz="2400" dirty="0">
                <a:solidFill>
                  <a:schemeClr val="dk1"/>
                </a:solidFill>
              </a:rPr>
              <a:t>Dept. of CSE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1800"/>
            </a:pPr>
            <a:r>
              <a:rPr lang="en-IN" sz="2400" dirty="0">
                <a:solidFill>
                  <a:schemeClr val="dk1"/>
                </a:solidFill>
              </a:rPr>
              <a:t>IIITDM Kancheepuram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Table of Contents</a:t>
            </a:r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Introduction 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Problem Definition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Literature Survey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Contribution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Progress/ Work done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Results/ Analysis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Conclusion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Future Work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/>
              <a:t>Weekly Review Report</a:t>
            </a:r>
            <a:endParaRPr dirty="0"/>
          </a:p>
        </p:txBody>
      </p:sp>
      <p:sp>
        <p:nvSpPr>
          <p:cNvPr id="146" name="Google Shape;146;p27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3EE098-B55E-EBC2-5339-AAAC549064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28" b="5576"/>
          <a:stretch>
            <a:fillRect/>
          </a:stretch>
        </p:blipFill>
        <p:spPr>
          <a:xfrm>
            <a:off x="5976594" y="1159497"/>
            <a:ext cx="4905728" cy="4925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5DE5DF-53A5-5E05-50E9-CDF3223594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670" b="14612"/>
          <a:stretch>
            <a:fillRect/>
          </a:stretch>
        </p:blipFill>
        <p:spPr>
          <a:xfrm>
            <a:off x="1004878" y="1159497"/>
            <a:ext cx="4905728" cy="49250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 dirty="0"/>
              <a:t>Information overload in online news platforms requires personalized recommendation systems.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 dirty="0"/>
              <a:t>Traditional recommendation methods fail to model dynamic user interests effectively.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 dirty="0"/>
              <a:t>News recommendation involves short-lived content and rapidly changing preferences.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 dirty="0"/>
              <a:t>Graph Neural Networks (GNNs) capture high-order user-news relationships.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 dirty="0"/>
              <a:t>Proposed work enhances GREP using Transformer and graph-based learning.</a:t>
            </a:r>
            <a:endParaRPr sz="2400" dirty="0"/>
          </a:p>
        </p:txBody>
      </p:sp>
      <p:sp>
        <p:nvSpPr>
          <p:cNvPr id="162" name="Google Shape;162;p29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Problem Definition</a:t>
            </a:r>
            <a:endParaRPr/>
          </a:p>
        </p:txBody>
      </p:sp>
      <p:sp>
        <p:nvSpPr>
          <p:cNvPr id="169" name="Google Shape;169;p30"/>
          <p:cNvSpPr txBox="1">
            <a:spLocks noGrp="1"/>
          </p:cNvSpPr>
          <p:nvPr>
            <p:ph type="body" idx="1"/>
          </p:nvPr>
        </p:nvSpPr>
        <p:spPr>
          <a:xfrm>
            <a:off x="715651" y="1244550"/>
            <a:ext cx="10515600" cy="480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The Problem:</a:t>
            </a:r>
          </a:p>
          <a:p>
            <a:r>
              <a:rPr lang="en-US" sz="2000" dirty="0"/>
              <a:t>Traditional models fail to capture high-order user-news relationships.</a:t>
            </a:r>
          </a:p>
          <a:p>
            <a:r>
              <a:rPr lang="en-US" sz="2000" dirty="0"/>
              <a:t>Data sparsity limits effective preference learning.</a:t>
            </a:r>
          </a:p>
          <a:p>
            <a:r>
              <a:rPr lang="en-US" sz="2000" dirty="0"/>
              <a:t>Cold start problem for new users and newly published news and user interests evolve dynamically over time.</a:t>
            </a:r>
          </a:p>
          <a:p>
            <a:r>
              <a:rPr lang="en-US" sz="2000" dirty="0"/>
              <a:t>Limited use of graph structure in news recommendation.</a:t>
            </a:r>
          </a:p>
          <a:p>
            <a:r>
              <a:rPr lang="en-US" sz="2000" dirty="0"/>
              <a:t>Existing GNN models are often over-complex and inefficient.</a:t>
            </a:r>
          </a:p>
          <a:p>
            <a:pPr marL="114300" indent="0">
              <a:buNone/>
            </a:pPr>
            <a:r>
              <a:rPr lang="en-US" sz="2000" b="1" dirty="0"/>
              <a:t>What does this solve?</a:t>
            </a:r>
          </a:p>
          <a:p>
            <a:r>
              <a:rPr lang="en-IN" sz="2000" dirty="0"/>
              <a:t>Leverages graph-based embedding propagation to model high-order connectivity.</a:t>
            </a:r>
          </a:p>
          <a:p>
            <a:r>
              <a:rPr lang="en-IN" sz="2000" dirty="0"/>
              <a:t>Improves performance under sparse data settings.</a:t>
            </a:r>
          </a:p>
          <a:p>
            <a:r>
              <a:rPr lang="en-IN" sz="2000" dirty="0"/>
              <a:t>Reduces cold start impact via structural information modelling.</a:t>
            </a:r>
          </a:p>
          <a:p>
            <a:r>
              <a:rPr lang="en-IN" sz="2000" dirty="0"/>
              <a:t>Designs a simplified and efficient GNN-based framework for news recommendation.</a:t>
            </a:r>
          </a:p>
        </p:txBody>
      </p:sp>
      <p:sp>
        <p:nvSpPr>
          <p:cNvPr id="170" name="Google Shape;170;p30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Literature Survey</a:t>
            </a:r>
            <a:endParaRPr/>
          </a:p>
        </p:txBody>
      </p:sp>
      <p:sp>
        <p:nvSpPr>
          <p:cNvPr id="177" name="Google Shape;177;p31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Collaborative Filtering and Matrix Factorization capture only shallow interactions.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NRMS uses multi-head self-attention for news and user representation learning.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CAUM introduces candidate-aware user interest modelling.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LightGCN simplifies graph propagation for efficient recommendation.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GREP combines knowledge graph propagation with existing and potential interest modelling.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Advantages of GNNs: </a:t>
            </a:r>
            <a:r>
              <a:rPr lang="en-US" sz="2000" dirty="0"/>
              <a:t>Captures high-order connectivity, Explicit collaborative signal modeling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Limitations: computational complexity, not tailored specifically for news dynamics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/>
          </a:p>
        </p:txBody>
      </p:sp>
      <p:sp>
        <p:nvSpPr>
          <p:cNvPr id="178" name="Google Shape;178;p31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9FEAE032-0D3A-0CBC-4ED2-CBF664EF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>
            <a:extLst>
              <a:ext uri="{FF2B5EF4-FFF2-40B4-BE49-F238E27FC236}">
                <a16:creationId xmlns:a16="http://schemas.microsoft.com/office/drawing/2014/main" id="{45BBFF41-0EBD-500C-25D8-90CC27CB61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/>
              <a:t>Work Done</a:t>
            </a:r>
            <a:endParaRPr dirty="0"/>
          </a:p>
        </p:txBody>
      </p:sp>
      <p:sp>
        <p:nvSpPr>
          <p:cNvPr id="186" name="Google Shape;186;p32">
            <a:extLst>
              <a:ext uri="{FF2B5EF4-FFF2-40B4-BE49-F238E27FC236}">
                <a16:creationId xmlns:a16="http://schemas.microsoft.com/office/drawing/2014/main" id="{D3184314-8C74-5D89-ABE9-3B20985A2F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10404-DDF8-08DA-5B16-AAC6A9E4D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308326"/>
            <a:ext cx="800414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GREP Small, GREP Large, and GREP Improved architectures.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Transformer-based title encoder with multi-head self-attention.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Modelled existing and potential interests using GNN-based propagation.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bi-directional interaction between title and entity representations.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and evaluated models on MIND-Small and MIND-Large datasets.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performance using AUC, MRR, nDCG@5, and nDCG@10 metrics.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B56FA-C17D-6EA0-1EB8-7403008B7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233" y="440861"/>
            <a:ext cx="3223539" cy="54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50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/>
              <a:t>Contributions</a:t>
            </a:r>
            <a:endParaRPr dirty="0"/>
          </a:p>
        </p:txBody>
      </p:sp>
      <p:sp>
        <p:nvSpPr>
          <p:cNvPr id="186" name="Google Shape;186;p32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04D5E-7434-FB3E-9BDE-8ADA3CCF8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8518" y="1382285"/>
            <a:ext cx="1105581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Sparse KG Computation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dynamic batch-wise subgraphs, reducing computation from O(|E|) to O(|E_batch|) and improving scalability for large knowledge graphs.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User Modeling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recency-based weighting to better capture changing user interests and prioritize recent interactions.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Negative Sampling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Curriculum Learning, gradually increasing difficult negative samples to improve recommendation ranking performance.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Augmentation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with title dropout, history cropping, and entity enrichment to improve robustness and generalization.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training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Mixed Precision, Gradient Accumulation, and Learning Rate Scheduling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achieving faster training with lower memory usage.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model stability and efficiency through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clipping, NaN handling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memory-efficient tensor operations, and fine-tuned entity embedding learning rates.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64F5DCC4-9D14-853D-C634-F0C7100E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>
            <a:extLst>
              <a:ext uri="{FF2B5EF4-FFF2-40B4-BE49-F238E27FC236}">
                <a16:creationId xmlns:a16="http://schemas.microsoft.com/office/drawing/2014/main" id="{20E80419-55FC-4B98-BDD4-92E15FD62D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3988324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/>
              <a:t>GREP Improved</a:t>
            </a:r>
            <a:endParaRPr dirty="0"/>
          </a:p>
        </p:txBody>
      </p:sp>
      <p:sp>
        <p:nvSpPr>
          <p:cNvPr id="186" name="Google Shape;186;p32">
            <a:extLst>
              <a:ext uri="{FF2B5EF4-FFF2-40B4-BE49-F238E27FC236}">
                <a16:creationId xmlns:a16="http://schemas.microsoft.com/office/drawing/2014/main" id="{F5C6ECE7-14EF-CE80-A8A5-15ECBAC06D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AB1C9-8574-5ED0-FB84-2CA54237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06528"/>
            <a:ext cx="5395014" cy="5514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B8ACCF-AA10-1872-9F5F-2DF7CEA47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31" y="2001616"/>
            <a:ext cx="5377080" cy="285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27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Analysis/ Results</a:t>
            </a:r>
            <a:endParaRPr/>
          </a:p>
        </p:txBody>
      </p:sp>
      <p:sp>
        <p:nvSpPr>
          <p:cNvPr id="193" name="Google Shape;193;p33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6307318" cy="218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GREP Improved consistently outperformed baseline models across all metrics.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Temporal user modelling significantly improved recommendation relevance.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Multi-head attention and graph transformers enhanced semantic understanding.</a:t>
            </a:r>
            <a:endParaRPr lang="en-US" sz="2000" dirty="0"/>
          </a:p>
        </p:txBody>
      </p:sp>
      <p:sp>
        <p:nvSpPr>
          <p:cNvPr id="194" name="Google Shape;194;p33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807176-E5ED-D809-0851-64EDFDCB1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626" y="1815064"/>
            <a:ext cx="5171626" cy="1576536"/>
          </a:xfrm>
          <a:prstGeom prst="rect">
            <a:avLst/>
          </a:prstGeom>
        </p:spPr>
      </p:pic>
      <p:sp>
        <p:nvSpPr>
          <p:cNvPr id="4" name="Google Shape;193;p33">
            <a:extLst>
              <a:ext uri="{FF2B5EF4-FFF2-40B4-BE49-F238E27FC236}">
                <a16:creationId xmlns:a16="http://schemas.microsoft.com/office/drawing/2014/main" id="{15481CDE-318B-5B4D-1CEE-9177F7B4BD4D}"/>
              </a:ext>
            </a:extLst>
          </p:cNvPr>
          <p:cNvSpPr txBox="1">
            <a:spLocks/>
          </p:cNvSpPr>
          <p:nvPr/>
        </p:nvSpPr>
        <p:spPr>
          <a:xfrm>
            <a:off x="838200" y="3640217"/>
            <a:ext cx="11055816" cy="231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/>
            <a:r>
              <a:rPr lang="en-US" sz="2000" dirty="0"/>
              <a:t>Sparse KG computation improved scalability and reduced computation overhead.</a:t>
            </a:r>
          </a:p>
          <a:p>
            <a:pPr marL="342900"/>
            <a:r>
              <a:rPr lang="en-US" sz="2000" dirty="0"/>
              <a:t>Training optimizations improved convergence stability and memory efficiency.</a:t>
            </a:r>
          </a:p>
          <a:p>
            <a:pPr marL="342900"/>
            <a:r>
              <a:rPr lang="en-US" sz="2000" dirty="0"/>
              <a:t>Model achieved strong ranking performance and generalized well on larger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209" name="Google Shape;209;p35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Proposed a GNN-based personalized news recommendation framework.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Combined Transformer attention with graph-based interest propagation.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Temporal and graph-aware modelling improved recommendation accuracy.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Achieved significant performance gains over GREP lighter variants and LightNRMS.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Demonstrated effective balance between recommendation quality and efficiency.</a:t>
            </a:r>
            <a:endParaRPr sz="2000" dirty="0"/>
          </a:p>
        </p:txBody>
      </p:sp>
      <p:sp>
        <p:nvSpPr>
          <p:cNvPr id="210" name="Google Shape;210;p35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Future Work</a:t>
            </a:r>
            <a:endParaRPr/>
          </a:p>
        </p:txBody>
      </p:sp>
      <p:sp>
        <p:nvSpPr>
          <p:cNvPr id="217" name="Google Shape;217;p36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Adaptive history modelling for short-term and long-term interests.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Hierarchical knowledge graph construction with multi-level semantics.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Incorporation of contrastive learning for better user representations.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Explore advanced fusion mechanisms for text and graph features.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Improve scalability using graph compression and model distillation.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000" dirty="0"/>
              <a:t>Enhance interpretability using explainable recommendation techniques.</a:t>
            </a:r>
            <a:endParaRPr sz="2000" dirty="0"/>
          </a:p>
        </p:txBody>
      </p:sp>
      <p:sp>
        <p:nvSpPr>
          <p:cNvPr id="218" name="Google Shape;218;p36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225" name="Google Shape;225;p37"/>
          <p:cNvSpPr txBox="1">
            <a:spLocks noGrp="1"/>
          </p:cNvSpPr>
          <p:nvPr>
            <p:ph type="body" idx="1"/>
          </p:nvPr>
        </p:nvSpPr>
        <p:spPr>
          <a:xfrm>
            <a:off x="838200" y="1308326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buFont typeface="Arial"/>
              <a:buAutoNum type="arabicPeriod"/>
            </a:pPr>
            <a:r>
              <a:rPr lang="en-IN" sz="2000" dirty="0"/>
              <a:t>Q. Qiu, F. Wu, C. Wu, Y. Huang, and X. Xie, “GREP: Graph neural news recommendation with user existing and potential interest modelling,” ACM Transactions on Knowledge Discovery from Data (TKDD), vol. 16, no. 4, pp. 1–25, 2022.</a:t>
            </a:r>
          </a:p>
          <a:p>
            <a:pPr lvl="0" indent="-457200">
              <a:buFont typeface="Arial"/>
              <a:buAutoNum type="arabicPeriod"/>
            </a:pPr>
            <a:r>
              <a:rPr lang="en-IN" sz="2000" dirty="0"/>
              <a:t>C. Gao, Y. Zheng, N. Li, Y. Li, Y. Qin, J. Piao, Y. Quan, J. Chang, D. Jin, X. He, and Y. Li, “A survey of graph neural networks for recommender systems: Challenges, methods, and directions,” ACM Transactions on Recommender Systems, vol. 1, no. 1, p. Article 3, 2023.</a:t>
            </a:r>
          </a:p>
          <a:p>
            <a:pPr lvl="0" indent="-457200">
              <a:buFont typeface="Arial"/>
              <a:buAutoNum type="arabicPeriod"/>
            </a:pPr>
            <a:r>
              <a:rPr lang="en-US" sz="2000" dirty="0"/>
              <a:t>C. Wu, F. Wu, T. Qi, Y. Huang, and X. Xie, “Neural news recommendation with multi-head self-attention,” Proceedings of the 2019 Conference on Empirical Methods in Natural Language Processing (EMNLP), 2019.</a:t>
            </a:r>
          </a:p>
          <a:p>
            <a:pPr lvl="0" indent="-457200">
              <a:buFont typeface="Arial"/>
              <a:buAutoNum type="arabicPeriod"/>
            </a:pPr>
            <a:r>
              <a:rPr lang="en-US" sz="2000" dirty="0"/>
              <a:t>T. Qi, F. Wu, C. Wu, and Y. Huang, “News recommendation with candidate-aware user modeling,” in Proceedings of the 45th International ACM SIGIR Conference on Research and Development in Information Retrieval (SIGIR). Association for Computing Machinery, 2022.</a:t>
            </a:r>
          </a:p>
          <a:p>
            <a:pPr lvl="0" indent="-457200">
              <a:buFont typeface="Arial"/>
              <a:buAutoNum type="arabicPeriod"/>
            </a:pPr>
            <a:endParaRPr lang="en-IN" sz="2000" dirty="0"/>
          </a:p>
        </p:txBody>
      </p:sp>
      <p:sp>
        <p:nvSpPr>
          <p:cNvPr id="226" name="Google Shape;226;p37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233" name="Google Shape;233;p38"/>
          <p:cNvSpPr txBox="1">
            <a:spLocks noGrp="1"/>
          </p:cNvSpPr>
          <p:nvPr>
            <p:ph type="title"/>
          </p:nvPr>
        </p:nvSpPr>
        <p:spPr>
          <a:xfrm>
            <a:off x="270929" y="2213979"/>
            <a:ext cx="11834648" cy="230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Thank You</a:t>
            </a:r>
            <a:br>
              <a:rPr lang="en-IN"/>
            </a:br>
            <a:br>
              <a:rPr lang="en-IN"/>
            </a:br>
            <a:r>
              <a:rPr lang="en-I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IITDM P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IITDM P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909</Words>
  <Application>Microsoft Office PowerPoint</Application>
  <PresentationFormat>Widescreen</PresentationFormat>
  <Paragraphs>109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IIITDM PPT</vt:lpstr>
      <vt:lpstr>IIITDM PPT</vt:lpstr>
      <vt:lpstr>Graph Based Methods for Personalised News Recommendation</vt:lpstr>
      <vt:lpstr>Table of Contents</vt:lpstr>
      <vt:lpstr>Weekly Review Report</vt:lpstr>
      <vt:lpstr>Introduction</vt:lpstr>
      <vt:lpstr>Problem Definition</vt:lpstr>
      <vt:lpstr>Literature Survey</vt:lpstr>
      <vt:lpstr>Work Done</vt:lpstr>
      <vt:lpstr>Contributions</vt:lpstr>
      <vt:lpstr>GREP Improved</vt:lpstr>
      <vt:lpstr>Analysis/ Results</vt:lpstr>
      <vt:lpstr>Conclusion</vt:lpstr>
      <vt:lpstr>Future Work</vt:lpstr>
      <vt:lpstr>References</vt:lpstr>
      <vt:lpstr>Thank You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Sumakar</cp:lastModifiedBy>
  <cp:revision>3</cp:revision>
  <dcterms:modified xsi:type="dcterms:W3CDTF">2026-05-12T04:01:51Z</dcterms:modified>
</cp:coreProperties>
</file>